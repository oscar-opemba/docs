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&amp; UI/UX in OTT Applications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quality engineering for connected-TV and streaming platforms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A2144"/>
          </a:solidFill>
          <a:ln w="12700">
            <a:solidFill>
              <a:srgbClr val="2B35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282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70432" y="187452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verification that software meets functional and non-functional requirements before release.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48716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A2144"/>
          </a:solidFill>
          <a:ln w="12700">
            <a:solidFill>
              <a:srgbClr val="2B35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06624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(UI)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70432" y="285292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and interactive layer users navigate — layout, focus states, typography, and controls.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34655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A2144"/>
          </a:solidFill>
          <a:ln w="12700">
            <a:solidFill>
              <a:srgbClr val="2B35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8503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3557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(UX)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70432" y="383133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usable, intuitive, and satisfying the product feels across the full viewing journey.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4489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OTT PLATFORMS REQUIRE SPECIALIZED QA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4782312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19" name="Text 14"/>
          <p:cNvSpPr/>
          <p:nvPr/>
        </p:nvSpPr>
        <p:spPr>
          <a:xfrm>
            <a:off x="457200" y="4828032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device ecosystem: each platform ships its own OS, remote-control input model, and certification rules.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hardware: limited memory and processing power surface performance defects invisible on mobile or web.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is D-pad and voice driven — focus order and remote-control usability replace touch and mouse testing.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certification is strict and slow, so defects caught late are far more expensive to fix.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5623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OTT PLATFORMS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591616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22" name="Shape 17"/>
          <p:cNvSpPr/>
          <p:nvPr/>
        </p:nvSpPr>
        <p:spPr>
          <a:xfrm>
            <a:off x="457200" y="5989320"/>
            <a:ext cx="365760" cy="365760"/>
          </a:xfrm>
          <a:prstGeom prst="ellipse">
            <a:avLst/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6071616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20040" y="638251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TV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1353312" y="5989320"/>
            <a:ext cx="365760" cy="365760"/>
          </a:xfrm>
          <a:prstGeom prst="ellipse">
            <a:avLst/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608" y="607161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16152" y="638251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2249424" y="5989320"/>
            <a:ext cx="365760" cy="365760"/>
          </a:xfrm>
          <a:prstGeom prst="ellipse">
            <a:avLst/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6071616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112264" y="638251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Tizen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3145536" y="5989320"/>
            <a:ext cx="365760" cy="365760"/>
          </a:xfrm>
          <a:prstGeom prst="ellipse">
            <a:avLst/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7832" y="6071616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008376" y="638251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webOS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4041648" y="5989320"/>
            <a:ext cx="365760" cy="365760"/>
          </a:xfrm>
          <a:prstGeom prst="ellipse">
            <a:avLst/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3944" y="6071616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904488" y="638251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TV</a:t>
            </a:r>
            <a:endParaRPr lang="en-US" sz="850" dirty="0"/>
          </a:p>
        </p:txBody>
      </p:sp>
      <p:sp>
        <p:nvSpPr>
          <p:cNvPr id="37" name="Shape 27"/>
          <p:cNvSpPr/>
          <p:nvPr/>
        </p:nvSpPr>
        <p:spPr>
          <a:xfrm>
            <a:off x="4937760" y="5989320"/>
            <a:ext cx="365760" cy="365760"/>
          </a:xfrm>
          <a:prstGeom prst="ellipse">
            <a:avLst/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0056" y="6071616"/>
            <a:ext cx="201168" cy="20116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800600" y="638251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TV</a:t>
            </a:r>
            <a:endParaRPr lang="en-US" sz="850" dirty="0"/>
          </a:p>
        </p:txBody>
      </p:sp>
      <p:sp>
        <p:nvSpPr>
          <p:cNvPr id="40" name="Text 29"/>
          <p:cNvSpPr/>
          <p:nvPr/>
        </p:nvSpPr>
        <p:spPr>
          <a:xfrm>
            <a:off x="82753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&amp; QA PLACEMENT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8275320" y="180136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42" name="Shape 31"/>
          <p:cNvSpPr/>
          <p:nvPr/>
        </p:nvSpPr>
        <p:spPr>
          <a:xfrm>
            <a:off x="8275320" y="187452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836676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 rot="10800000">
            <a:off x="9957816" y="2395728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45" name="Shape 34"/>
          <p:cNvSpPr/>
          <p:nvPr/>
        </p:nvSpPr>
        <p:spPr>
          <a:xfrm>
            <a:off x="8275320" y="2523744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8366760" y="25237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 rot="10800000">
            <a:off x="9957816" y="3044952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48" name="Shape 37"/>
          <p:cNvSpPr/>
          <p:nvPr/>
        </p:nvSpPr>
        <p:spPr>
          <a:xfrm>
            <a:off x="8275320" y="3172968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8366760" y="31729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 rot="10800000">
            <a:off x="9957816" y="369417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51" name="Shape 40"/>
          <p:cNvSpPr/>
          <p:nvPr/>
        </p:nvSpPr>
        <p:spPr>
          <a:xfrm>
            <a:off x="8275320" y="3822192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4C82F7"/>
          </a:solidFill>
          <a:ln w="12700">
            <a:solidFill>
              <a:srgbClr val="4C82F7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8366760" y="38221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Testing</a:t>
            </a:r>
            <a:endParaRPr lang="en-US" sz="1200" dirty="0"/>
          </a:p>
        </p:txBody>
      </p:sp>
      <p:sp>
        <p:nvSpPr>
          <p:cNvPr id="53" name="Shape 42"/>
          <p:cNvSpPr/>
          <p:nvPr/>
        </p:nvSpPr>
        <p:spPr>
          <a:xfrm rot="10800000">
            <a:off x="9957816" y="4343400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54" name="Shape 43"/>
          <p:cNvSpPr/>
          <p:nvPr/>
        </p:nvSpPr>
        <p:spPr>
          <a:xfrm>
            <a:off x="8275320" y="4471416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8366760" y="44714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56" name="Shape 45"/>
          <p:cNvSpPr/>
          <p:nvPr/>
        </p:nvSpPr>
        <p:spPr>
          <a:xfrm rot="10800000">
            <a:off x="9957816" y="4992624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57" name="Shape 46"/>
          <p:cNvSpPr/>
          <p:nvPr/>
        </p:nvSpPr>
        <p:spPr>
          <a:xfrm>
            <a:off x="8275320" y="512064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58" name="Text 47"/>
          <p:cNvSpPr/>
          <p:nvPr/>
        </p:nvSpPr>
        <p:spPr>
          <a:xfrm>
            <a:off x="8366760" y="5120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59" name="Text 48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UI/UX Testing for OTT Applications</a:t>
            </a:r>
            <a:endParaRPr lang="en-US" sz="800" dirty="0"/>
          </a:p>
        </p:txBody>
      </p:sp>
      <p:sp>
        <p:nvSpPr>
          <p:cNvPr id="60" name="Text 49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Fundamentals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types, the bug lifecycle, and how severity and priority are classified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TESTING TYPES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83080"/>
            <a:ext cx="420624" cy="420624"/>
          </a:xfrm>
          <a:prstGeom prst="ellipse">
            <a:avLst/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562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7556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19842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pass confirming the build launches and core paths work.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404872"/>
            <a:ext cx="420624" cy="420624"/>
          </a:xfrm>
          <a:prstGeom prst="ellipse">
            <a:avLst/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3774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05840" y="2606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each feature performs to specification.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3026664"/>
            <a:ext cx="420624" cy="420624"/>
          </a:xfrm>
          <a:prstGeom prst="ellipse">
            <a:avLst/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9981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9992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05840" y="32278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existing functionality still works after changes.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648456"/>
            <a:ext cx="420624" cy="420624"/>
          </a:xfrm>
          <a:prstGeom prst="ellipse">
            <a:avLst/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72160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6210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005840" y="38496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Unscripted investigation to surface unexpected defects.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4270248"/>
            <a:ext cx="420624" cy="420624"/>
          </a:xfrm>
          <a:prstGeom prst="ellipse">
            <a:avLst/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3434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05840" y="42428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(UAT)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005840" y="44714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build meets real-world user and business needs.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3434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LIFECYCLE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343400" y="170992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29" name="Shape 22"/>
          <p:cNvSpPr/>
          <p:nvPr/>
        </p:nvSpPr>
        <p:spPr>
          <a:xfrm>
            <a:off x="4343400" y="1783080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434840" y="178308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 rot="10800000">
            <a:off x="5888736" y="2210562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32" name="Shape 25"/>
          <p:cNvSpPr/>
          <p:nvPr/>
        </p:nvSpPr>
        <p:spPr>
          <a:xfrm>
            <a:off x="4343400" y="2327148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434840" y="232714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 rot="10800000">
            <a:off x="5888736" y="2754630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35" name="Shape 28"/>
          <p:cNvSpPr/>
          <p:nvPr/>
        </p:nvSpPr>
        <p:spPr>
          <a:xfrm>
            <a:off x="4343400" y="2871216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434840" y="287121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 rot="10800000">
            <a:off x="5888736" y="3298698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38" name="Shape 31"/>
          <p:cNvSpPr/>
          <p:nvPr/>
        </p:nvSpPr>
        <p:spPr>
          <a:xfrm>
            <a:off x="4343400" y="3415284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434840" y="341528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 rot="10800000">
            <a:off x="5888736" y="384276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41" name="Shape 34"/>
          <p:cNvSpPr/>
          <p:nvPr/>
        </p:nvSpPr>
        <p:spPr>
          <a:xfrm>
            <a:off x="4343400" y="3959352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434840" y="395935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 rot="10800000">
            <a:off x="5888736" y="4386834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44" name="Shape 37"/>
          <p:cNvSpPr/>
          <p:nvPr/>
        </p:nvSpPr>
        <p:spPr>
          <a:xfrm>
            <a:off x="4343400" y="4503420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434840" y="45034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79095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7909560" y="170992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48" name="Text 41"/>
          <p:cNvSpPr/>
          <p:nvPr/>
        </p:nvSpPr>
        <p:spPr>
          <a:xfrm>
            <a:off x="98298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50" dirty="0"/>
          </a:p>
        </p:txBody>
      </p:sp>
      <p:sp>
        <p:nvSpPr>
          <p:cNvPr id="49" name="Shape 42"/>
          <p:cNvSpPr/>
          <p:nvPr/>
        </p:nvSpPr>
        <p:spPr>
          <a:xfrm>
            <a:off x="9829800" y="170992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50" name="Shape 43"/>
          <p:cNvSpPr/>
          <p:nvPr/>
        </p:nvSpPr>
        <p:spPr>
          <a:xfrm>
            <a:off x="7909560" y="178308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7909560" y="1783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50" dirty="0"/>
          </a:p>
        </p:txBody>
      </p:sp>
      <p:sp>
        <p:nvSpPr>
          <p:cNvPr id="52" name="Shape 45"/>
          <p:cNvSpPr/>
          <p:nvPr/>
        </p:nvSpPr>
        <p:spPr>
          <a:xfrm>
            <a:off x="9829800" y="178308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9829800" y="1783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Immediate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7909560" y="229514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7909560" y="22951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56" name="Shape 49"/>
          <p:cNvSpPr/>
          <p:nvPr/>
        </p:nvSpPr>
        <p:spPr>
          <a:xfrm>
            <a:off x="9829800" y="229514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9829800" y="22951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Same day</a:t>
            </a:r>
            <a:endParaRPr lang="en-US" sz="1050" dirty="0"/>
          </a:p>
        </p:txBody>
      </p:sp>
      <p:sp>
        <p:nvSpPr>
          <p:cNvPr id="58" name="Shape 51"/>
          <p:cNvSpPr/>
          <p:nvPr/>
        </p:nvSpPr>
        <p:spPr>
          <a:xfrm>
            <a:off x="7909560" y="280720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7909560" y="28072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60" name="Shape 53"/>
          <p:cNvSpPr/>
          <p:nvPr/>
        </p:nvSpPr>
        <p:spPr>
          <a:xfrm>
            <a:off x="9829800" y="280720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9829800" y="28072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Scheduled</a:t>
            </a:r>
            <a:endParaRPr lang="en-US" sz="1050" dirty="0"/>
          </a:p>
        </p:txBody>
      </p:sp>
      <p:sp>
        <p:nvSpPr>
          <p:cNvPr id="62" name="Shape 55"/>
          <p:cNvSpPr/>
          <p:nvPr/>
        </p:nvSpPr>
        <p:spPr>
          <a:xfrm>
            <a:off x="7909560" y="331927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7909560" y="33192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64" name="Shape 57"/>
          <p:cNvSpPr/>
          <p:nvPr/>
        </p:nvSpPr>
        <p:spPr>
          <a:xfrm>
            <a:off x="9829800" y="331927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9829800" y="33192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— Backlog</a:t>
            </a:r>
            <a:endParaRPr lang="en-US" sz="1050" dirty="0"/>
          </a:p>
        </p:txBody>
      </p:sp>
      <p:sp>
        <p:nvSpPr>
          <p:cNvPr id="66" name="Text 59"/>
          <p:cNvSpPr/>
          <p:nvPr/>
        </p:nvSpPr>
        <p:spPr>
          <a:xfrm>
            <a:off x="790956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reflects technical impact; priority reflects order of resolution. The two do not always match.</a:t>
            </a:r>
            <a:endParaRPr lang="en-US" sz="950" dirty="0"/>
          </a:p>
        </p:txBody>
      </p:sp>
      <p:sp>
        <p:nvSpPr>
          <p:cNvPr id="67" name="Text 60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EXAMPLE</a:t>
            </a:r>
            <a:endParaRPr lang="en-US" sz="1150" dirty="0"/>
          </a:p>
        </p:txBody>
      </p:sp>
      <p:sp>
        <p:nvSpPr>
          <p:cNvPr id="68" name="Shape 61"/>
          <p:cNvSpPr/>
          <p:nvPr/>
        </p:nvSpPr>
        <p:spPr>
          <a:xfrm>
            <a:off x="457200" y="500176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69" name="Shape 62"/>
          <p:cNvSpPr/>
          <p:nvPr/>
        </p:nvSpPr>
        <p:spPr>
          <a:xfrm>
            <a:off x="457200" y="5029200"/>
            <a:ext cx="11292840" cy="1481328"/>
          </a:xfrm>
          <a:prstGeom prst="roundRect">
            <a:avLst>
              <a:gd name="adj" fmla="val 4938"/>
            </a:avLst>
          </a:prstGeom>
          <a:solidFill>
            <a:srgbClr val="1A2144"/>
          </a:solidFill>
          <a:ln w="12700">
            <a:solidFill>
              <a:srgbClr val="2B35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0" name="Text 63"/>
          <p:cNvSpPr/>
          <p:nvPr/>
        </p:nvSpPr>
        <p:spPr>
          <a:xfrm>
            <a:off x="658368" y="5138928"/>
            <a:ext cx="5372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 </a:t>
            </a:r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stalls after 30s on 4K HDR content</a:t>
            </a:r>
            <a:endParaRPr lang="en-US" sz="1000" dirty="0"/>
          </a:p>
        </p:txBody>
      </p:sp>
      <p:sp>
        <p:nvSpPr>
          <p:cNvPr id="71" name="Text 64"/>
          <p:cNvSpPr/>
          <p:nvPr/>
        </p:nvSpPr>
        <p:spPr>
          <a:xfrm>
            <a:off x="6304788" y="5138928"/>
            <a:ext cx="5372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 </a:t>
            </a:r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Tizen 7.0, Build 2.14.0, Wi-Fi</a:t>
            </a:r>
            <a:endParaRPr lang="en-US" sz="1000" dirty="0"/>
          </a:p>
        </p:txBody>
      </p:sp>
      <p:sp>
        <p:nvSpPr>
          <p:cNvPr id="72" name="Text 65"/>
          <p:cNvSpPr/>
          <p:nvPr/>
        </p:nvSpPr>
        <p:spPr>
          <a:xfrm>
            <a:off x="658368" y="5468112"/>
            <a:ext cx="5372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 </a:t>
            </a:r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app -&gt; Play 4K HDR title -&gt; Wait 30s</a:t>
            </a:r>
            <a:endParaRPr lang="en-US" sz="1000" dirty="0"/>
          </a:p>
        </p:txBody>
      </p:sp>
      <p:sp>
        <p:nvSpPr>
          <p:cNvPr id="73" name="Text 66"/>
          <p:cNvSpPr/>
          <p:nvPr/>
        </p:nvSpPr>
        <p:spPr>
          <a:xfrm>
            <a:off x="6304788" y="5468112"/>
            <a:ext cx="5372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  </a:t>
            </a:r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continues without interruption</a:t>
            </a:r>
            <a:endParaRPr lang="en-US" sz="1000" dirty="0"/>
          </a:p>
        </p:txBody>
      </p:sp>
      <p:sp>
        <p:nvSpPr>
          <p:cNvPr id="74" name="Text 67"/>
          <p:cNvSpPr/>
          <p:nvPr/>
        </p:nvSpPr>
        <p:spPr>
          <a:xfrm>
            <a:off x="658368" y="5797296"/>
            <a:ext cx="5372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Result:  </a:t>
            </a:r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freezes; audio continues</a:t>
            </a:r>
            <a:endParaRPr lang="en-US" sz="1000" dirty="0"/>
          </a:p>
        </p:txBody>
      </p:sp>
      <p:sp>
        <p:nvSpPr>
          <p:cNvPr id="75" name="Text 68"/>
          <p:cNvSpPr/>
          <p:nvPr/>
        </p:nvSpPr>
        <p:spPr>
          <a:xfrm>
            <a:off x="6304788" y="5797296"/>
            <a:ext cx="5372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/ Priority:  </a:t>
            </a:r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P2</a:t>
            </a:r>
            <a:endParaRPr lang="en-US" sz="1000" dirty="0"/>
          </a:p>
        </p:txBody>
      </p:sp>
      <p:sp>
        <p:nvSpPr>
          <p:cNvPr id="76" name="Text 69"/>
          <p:cNvSpPr/>
          <p:nvPr/>
        </p:nvSpPr>
        <p:spPr>
          <a:xfrm>
            <a:off x="658368" y="6126480"/>
            <a:ext cx="5372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Reference:  </a:t>
            </a:r>
            <a:pPr indent="0" marL="0">
              <a:buNone/>
            </a:pPr>
            <a:r>
              <a:rPr lang="en-US" sz="10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attached: bug-4128-frame.png</a:t>
            </a:r>
            <a:endParaRPr lang="en-US" sz="1000" dirty="0"/>
          </a:p>
        </p:txBody>
      </p:sp>
      <p:sp>
        <p:nvSpPr>
          <p:cNvPr id="77" name="Text 70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UI/UX Testing for OTT Applications</a:t>
            </a:r>
            <a:endParaRPr lang="en-US" sz="800" dirty="0"/>
          </a:p>
        </p:txBody>
      </p:sp>
      <p:sp>
        <p:nvSpPr>
          <p:cNvPr id="78" name="Text 71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Tools &amp; Practical 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device testing, debugging commands, and the toolchain behind OTT QA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QA ACTIVITIES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TV device testing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installation &amp; sideloading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debugging via ADB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collection &amp; analysis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compatibility testing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validation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91840" y="178308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Remote-control focus navigation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memory testing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metadata validation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testing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staging verification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0B1024"/>
          </a:solidFill>
          <a:ln w="12700">
            <a:solidFill>
              <a:srgbClr val="2B35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1508760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— DEVICE DEBUGGING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73952" y="1801368"/>
            <a:ext cx="2368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devices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connect &lt;TV_IP&gt;:5555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install app.apk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shell pm clear package.name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logcat | grep package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logcat &gt; logs.txt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uninstall package.name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0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B1024"/>
          </a:solidFill>
          <a:ln w="12700">
            <a:solidFill>
              <a:srgbClr val="2B35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08592" y="1508760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&amp; GIT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08592" y="1801368"/>
            <a:ext cx="22768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installer.bin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./installer.bin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/ mv / mkdir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&lt;repo&gt;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-I &lt;endpoint&gt;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TOOLCHAIN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27024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343400"/>
            <a:ext cx="2112264" cy="1600200"/>
          </a:xfrm>
          <a:prstGeom prst="roundRect">
            <a:avLst>
              <a:gd name="adj" fmla="val 457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489704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85216" y="487375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85216" y="521208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debug, and inspect logs on TV devices.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52344" y="4343400"/>
            <a:ext cx="2112264" cy="1600200"/>
          </a:xfrm>
          <a:prstGeom prst="roundRect">
            <a:avLst>
              <a:gd name="adj" fmla="val 457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4489704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880360" y="487375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Inspection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880360" y="521208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spacing, color, and typography against design specs.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047488" y="4343400"/>
            <a:ext cx="2112264" cy="1600200"/>
          </a:xfrm>
          <a:prstGeom prst="roundRect">
            <a:avLst>
              <a:gd name="adj" fmla="val 457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4489704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75504" y="487375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175504" y="521208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test cases, coverage, and QA status.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7342632" y="4343400"/>
            <a:ext cx="2112264" cy="1600200"/>
          </a:xfrm>
          <a:prstGeom prst="roundRect">
            <a:avLst>
              <a:gd name="adj" fmla="val 457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4489704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70648" y="487375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Freedcamp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7470648" y="521208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defects, tasks, and sprint QA workflows.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9637776" y="4343400"/>
            <a:ext cx="2112264" cy="1600200"/>
          </a:xfrm>
          <a:prstGeom prst="roundRect">
            <a:avLst>
              <a:gd name="adj" fmla="val 457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4489704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65792" y="487375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Console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9765792" y="521208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Android TV release tracks and pre-launch reports.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457200" y="6108192"/>
            <a:ext cx="2112264" cy="1600200"/>
          </a:xfrm>
          <a:prstGeom prst="roundRect">
            <a:avLst>
              <a:gd name="adj" fmla="val 457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6254496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85216" y="6638544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 Behavior Analysis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585216" y="6976872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runtime behavior and crash analytics on Roku.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2752344" y="6108192"/>
            <a:ext cx="2112264" cy="1600200"/>
          </a:xfrm>
          <a:prstGeom prst="roundRect">
            <a:avLst>
              <a:gd name="adj" fmla="val 457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8648" y="6254496"/>
            <a:ext cx="292608" cy="29260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880360" y="6638544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Tizen Portal</a:t>
            </a:r>
            <a:endParaRPr lang="en-US" sz="1050" dirty="0"/>
          </a:p>
        </p:txBody>
      </p:sp>
      <p:sp>
        <p:nvSpPr>
          <p:cNvPr id="44" name="Text 35"/>
          <p:cNvSpPr/>
          <p:nvPr/>
        </p:nvSpPr>
        <p:spPr>
          <a:xfrm>
            <a:off x="2880360" y="6976872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Samsung's certification and app submission console.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5047488" y="6108192"/>
            <a:ext cx="2112264" cy="1600200"/>
          </a:xfrm>
          <a:prstGeom prst="roundRect">
            <a:avLst>
              <a:gd name="adj" fmla="val 457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3792" y="6254496"/>
            <a:ext cx="292608" cy="29260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175504" y="6638544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Validator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5175504" y="6976872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manifest, bitrate ladder, and playback streams.</a:t>
            </a:r>
            <a:endParaRPr lang="en-US" sz="850" dirty="0"/>
          </a:p>
        </p:txBody>
      </p:sp>
      <p:sp>
        <p:nvSpPr>
          <p:cNvPr id="49" name="Shape 39"/>
          <p:cNvSpPr/>
          <p:nvPr/>
        </p:nvSpPr>
        <p:spPr>
          <a:xfrm>
            <a:off x="7342632" y="6108192"/>
            <a:ext cx="2112264" cy="1600200"/>
          </a:xfrm>
          <a:prstGeom prst="roundRect">
            <a:avLst>
              <a:gd name="adj" fmla="val 457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936" y="6254496"/>
            <a:ext cx="292608" cy="29260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470648" y="6638544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Staging</a:t>
            </a:r>
            <a:endParaRPr lang="en-US" sz="1050" dirty="0"/>
          </a:p>
        </p:txBody>
      </p:sp>
      <p:sp>
        <p:nvSpPr>
          <p:cNvPr id="52" name="Text 41"/>
          <p:cNvSpPr/>
          <p:nvPr/>
        </p:nvSpPr>
        <p:spPr>
          <a:xfrm>
            <a:off x="7470648" y="6976872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 content environment for validation before release.</a:t>
            </a:r>
            <a:endParaRPr lang="en-US" sz="850" dirty="0"/>
          </a:p>
        </p:txBody>
      </p:sp>
      <p:sp>
        <p:nvSpPr>
          <p:cNvPr id="53" name="Shape 42"/>
          <p:cNvSpPr/>
          <p:nvPr/>
        </p:nvSpPr>
        <p:spPr>
          <a:xfrm>
            <a:off x="9637776" y="6108192"/>
            <a:ext cx="2112264" cy="1600200"/>
          </a:xfrm>
          <a:prstGeom prst="roundRect">
            <a:avLst>
              <a:gd name="adj" fmla="val 457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4080" y="6254496"/>
            <a:ext cx="292608" cy="29260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9765792" y="6638544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Contrast Checker</a:t>
            </a:r>
            <a:endParaRPr lang="en-US" sz="1050" dirty="0"/>
          </a:p>
        </p:txBody>
      </p:sp>
      <p:sp>
        <p:nvSpPr>
          <p:cNvPr id="56" name="Text 44"/>
          <p:cNvSpPr/>
          <p:nvPr/>
        </p:nvSpPr>
        <p:spPr>
          <a:xfrm>
            <a:off x="9765792" y="6976872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color contrast meets accessibility standards.</a:t>
            </a:r>
            <a:endParaRPr lang="en-US" sz="850" dirty="0"/>
          </a:p>
        </p:txBody>
      </p:sp>
      <p:sp>
        <p:nvSpPr>
          <p:cNvPr id="57" name="Text 45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UI/UX Testing for OTT Applications</a:t>
            </a:r>
            <a:endParaRPr lang="en-US" sz="800" dirty="0"/>
          </a:p>
        </p:txBody>
      </p:sp>
      <p:sp>
        <p:nvSpPr>
          <p:cNvPr id="58" name="Text 46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QA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build moves from intake to release, and how a defect moves from discovery to closure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QA WORKFLOW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64792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64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Build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rot="10800000">
            <a:off x="2185416" y="211683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212848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12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Requirements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2185416" y="2564892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60904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60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Test Environment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rot="10800000">
            <a:off x="2185416" y="3012948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10896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rot="10800000">
            <a:off x="2185416" y="3461004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557016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570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rot="10800000">
            <a:off x="2185416" y="3909060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005072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05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rot="10800000">
            <a:off x="2185416" y="435711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453128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453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Defects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rot="10800000">
            <a:off x="2185416" y="4805172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901184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9011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rot="10800000">
            <a:off x="2185416" y="5253228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534924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rot="10800000">
            <a:off x="2185416" y="5701284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5797296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4C82F7"/>
          </a:solidFill>
          <a:ln w="12700">
            <a:solidFill>
              <a:srgbClr val="4C82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7972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Sign-off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 rot="10800000">
            <a:off x="2185416" y="6149340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6245352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245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Release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3484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RESOLUTION WORKFLOW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434840" y="170992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41" name="Shape 39"/>
          <p:cNvSpPr/>
          <p:nvPr/>
        </p:nvSpPr>
        <p:spPr>
          <a:xfrm>
            <a:off x="4434840" y="1764792"/>
            <a:ext cx="3566160" cy="448056"/>
          </a:xfrm>
          <a:prstGeom prst="roundRect">
            <a:avLst>
              <a:gd name="adj" fmla="val 12245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176479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 rot="10800000">
            <a:off x="6163056" y="220827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44" name="Shape 42"/>
          <p:cNvSpPr/>
          <p:nvPr/>
        </p:nvSpPr>
        <p:spPr>
          <a:xfrm>
            <a:off x="4434840" y="2313432"/>
            <a:ext cx="3566160" cy="448056"/>
          </a:xfrm>
          <a:prstGeom prst="roundRect">
            <a:avLst>
              <a:gd name="adj" fmla="val 12245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26280" y="231343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 rot="10800000">
            <a:off x="6163056" y="275691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47" name="Shape 45"/>
          <p:cNvSpPr/>
          <p:nvPr/>
        </p:nvSpPr>
        <p:spPr>
          <a:xfrm>
            <a:off x="4434840" y="2862072"/>
            <a:ext cx="3566160" cy="448056"/>
          </a:xfrm>
          <a:prstGeom prst="roundRect">
            <a:avLst>
              <a:gd name="adj" fmla="val 12245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286207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Logs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 rot="10800000">
            <a:off x="6163056" y="330555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50" name="Shape 48"/>
          <p:cNvSpPr/>
          <p:nvPr/>
        </p:nvSpPr>
        <p:spPr>
          <a:xfrm>
            <a:off x="4434840" y="3410712"/>
            <a:ext cx="3566160" cy="448056"/>
          </a:xfrm>
          <a:prstGeom prst="roundRect">
            <a:avLst>
              <a:gd name="adj" fmla="val 12245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26280" y="341071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Screenshots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 rot="10800000">
            <a:off x="6163056" y="385419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53" name="Shape 51"/>
          <p:cNvSpPr/>
          <p:nvPr/>
        </p:nvSpPr>
        <p:spPr>
          <a:xfrm>
            <a:off x="4434840" y="3959352"/>
            <a:ext cx="3566160" cy="448056"/>
          </a:xfrm>
          <a:prstGeom prst="roundRect">
            <a:avLst>
              <a:gd name="adj" fmla="val 12245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6280" y="395935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Bug Report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 rot="10800000">
            <a:off x="6163056" y="440283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56" name="Shape 54"/>
          <p:cNvSpPr/>
          <p:nvPr/>
        </p:nvSpPr>
        <p:spPr>
          <a:xfrm>
            <a:off x="4434840" y="4507992"/>
            <a:ext cx="3566160" cy="448056"/>
          </a:xfrm>
          <a:prstGeom prst="roundRect">
            <a:avLst>
              <a:gd name="adj" fmla="val 12245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26280" y="450799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Developer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 rot="10800000">
            <a:off x="6163056" y="495147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59" name="Shape 57"/>
          <p:cNvSpPr/>
          <p:nvPr/>
        </p:nvSpPr>
        <p:spPr>
          <a:xfrm>
            <a:off x="4434840" y="5056632"/>
            <a:ext cx="3566160" cy="448056"/>
          </a:xfrm>
          <a:prstGeom prst="roundRect">
            <a:avLst>
              <a:gd name="adj" fmla="val 12245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26280" y="505663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 rot="10800000">
            <a:off x="6163056" y="550011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62" name="Shape 60"/>
          <p:cNvSpPr/>
          <p:nvPr/>
        </p:nvSpPr>
        <p:spPr>
          <a:xfrm>
            <a:off x="4434840" y="5605272"/>
            <a:ext cx="3566160" cy="448056"/>
          </a:xfrm>
          <a:prstGeom prst="roundRect">
            <a:avLst>
              <a:gd name="adj" fmla="val 12245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26280" y="560527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 rot="10800000">
            <a:off x="6163056" y="6048756"/>
            <a:ext cx="109728" cy="109728"/>
          </a:xfrm>
          <a:prstGeom prst="triangle">
            <a:avLst/>
          </a:prstGeom>
          <a:solidFill>
            <a:srgbClr val="6E799E"/>
          </a:solidFill>
          <a:ln/>
        </p:spPr>
      </p:sp>
      <p:sp>
        <p:nvSpPr>
          <p:cNvPr id="65" name="Shape 63"/>
          <p:cNvSpPr/>
          <p:nvPr/>
        </p:nvSpPr>
        <p:spPr>
          <a:xfrm>
            <a:off x="4434840" y="6153912"/>
            <a:ext cx="3566160" cy="448056"/>
          </a:xfrm>
          <a:prstGeom prst="roundRect">
            <a:avLst>
              <a:gd name="adj" fmla="val 12245"/>
            </a:avLst>
          </a:prstGeom>
          <a:solidFill>
            <a:srgbClr val="4C82F7"/>
          </a:solidFill>
          <a:ln w="12700">
            <a:solidFill>
              <a:srgbClr val="4C82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26280" y="615391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36676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SEVERITY EXAMPLES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8366760" y="170992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69" name="Shape 67"/>
          <p:cNvSpPr/>
          <p:nvPr/>
        </p:nvSpPr>
        <p:spPr>
          <a:xfrm>
            <a:off x="8366760" y="178308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03920" y="18470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503920" y="20299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crashes on launch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8503920" y="22311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all use of the product.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366760" y="253288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03920" y="25968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503920" y="27797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failure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8503920" y="29809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users from accessing content.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366760" y="3282696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03920" y="33467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503920" y="35295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playback buffering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8503920" y="3730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experience but content is reachable.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366760" y="4032504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503920" y="4096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503920" y="42793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not loading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8503920" y="4480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a section without blocking the app.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366760" y="4782312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503920" y="48463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503920" y="50292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issue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8503920" y="52303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Cosmetic; no functional impact.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8366760" y="553212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503920" y="5596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503920" y="57790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thumbnail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8503920" y="59801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inaccuracy with no functional impact.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UI/UX Testing for OTT Applications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Best Practices &amp; 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that keep OTT quality engineering rigorous, repeatable, and release-ready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QA PRINCIPLES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10512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test planning before execution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traceable test case design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testing on every new build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before release candidates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to catch the unscripted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compatibility coverage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810512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validation (WCAG)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memory profiling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and content verification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certification readiness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reproducible bug reporting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7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Close, continuous developer communication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RELEASE CHECKLIST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09928"/>
            <a:ext cx="320040" cy="25603"/>
          </a:xfrm>
          <a:prstGeom prst="rect">
            <a:avLst/>
          </a:prstGeom>
          <a:solidFill>
            <a:srgbClr val="4C82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783080"/>
            <a:ext cx="5440680" cy="2971800"/>
          </a:xfrm>
          <a:prstGeom prst="roundRect">
            <a:avLst>
              <a:gd name="adj" fmla="val 2462"/>
            </a:avLst>
          </a:prstGeom>
          <a:solidFill>
            <a:srgbClr val="1A2144"/>
          </a:solidFill>
          <a:ln w="12700">
            <a:solidFill>
              <a:srgbClr val="2B35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965960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03720" y="19293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complete</a:t>
            </a:r>
            <a:endParaRPr lang="en-US" sz="12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042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03720" y="22677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 complete</a:t>
            </a:r>
            <a:endParaRPr lang="en-US" sz="12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6426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2606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Critical defects open</a:t>
            </a:r>
            <a:endParaRPr lang="en-US" sz="1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980944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29443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defects resolved</a:t>
            </a:r>
            <a:endParaRPr lang="en-US" sz="12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319272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03720" y="32826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within acceptable thresholds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657600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03720" y="36210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verified</a:t>
            </a:r>
            <a:endParaRPr lang="en-US" sz="12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995928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03720" y="39593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metadata validated</a:t>
            </a:r>
            <a:endParaRPr lang="en-US" sz="12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334256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03720" y="42976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requirements satisfied</a:t>
            </a:r>
            <a:endParaRPr lang="en-US" sz="1250" dirty="0"/>
          </a:p>
        </p:txBody>
      </p:sp>
      <p:sp>
        <p:nvSpPr>
          <p:cNvPr id="28" name="Shape 18"/>
          <p:cNvSpPr/>
          <p:nvPr/>
        </p:nvSpPr>
        <p:spPr>
          <a:xfrm>
            <a:off x="457200" y="5074920"/>
            <a:ext cx="11292840" cy="1417320"/>
          </a:xfrm>
          <a:prstGeom prst="roundRect">
            <a:avLst>
              <a:gd name="adj" fmla="val 5161"/>
            </a:avLst>
          </a:prstGeom>
          <a:solidFill>
            <a:srgbClr val="1F2A52"/>
          </a:solidFill>
          <a:ln w="12700">
            <a:solidFill>
              <a:srgbClr val="2B35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Text 19"/>
          <p:cNvSpPr/>
          <p:nvPr/>
        </p:nvSpPr>
        <p:spPr>
          <a:xfrm>
            <a:off x="822960" y="5230368"/>
            <a:ext cx="1056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“Quality Assurance is a continuous engineering discipline focused on delivering reliable, accessible, secure, and high-performing software across every supported platform.”</a:t>
            </a:r>
            <a:endParaRPr lang="en-US" sz="1600" dirty="0"/>
          </a:p>
        </p:txBody>
      </p:sp>
      <p:sp>
        <p:nvSpPr>
          <p:cNvPr id="30" name="Text 20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UI/UX Testing for OTT Applications</a:t>
            </a:r>
            <a:endParaRPr lang="en-US" sz="800" dirty="0"/>
          </a:p>
        </p:txBody>
      </p:sp>
      <p:sp>
        <p:nvSpPr>
          <p:cNvPr id="31" name="Text 21"/>
          <p:cNvSpPr/>
          <p:nvPr/>
        </p:nvSpPr>
        <p:spPr>
          <a:xfrm>
            <a:off x="11521440" y="6565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&amp; UI/UX Testing for OTT Applications</dc:title>
  <dc:subject>PptxGenJS Presentation</dc:subject>
  <dc:creator>QA Engineering</dc:creator>
  <cp:lastModifiedBy>QA Engineering</cp:lastModifiedBy>
  <cp:revision>1</cp:revision>
  <dcterms:created xsi:type="dcterms:W3CDTF">2026-07-03T12:34:17Z</dcterms:created>
  <dcterms:modified xsi:type="dcterms:W3CDTF">2026-07-03T12:34:17Z</dcterms:modified>
</cp:coreProperties>
</file>